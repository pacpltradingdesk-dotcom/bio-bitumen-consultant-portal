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PPS Anantams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Bio-Modified Bitumen Plant — 25 MT/Day</a:t>
            </a:r>
          </a:p>
          <a:p>
            <a:r>
              <a:t>Investment: Rs 10.00 Crore | IRR: 26.1%</a:t>
            </a:r>
          </a:p>
          <a:p>
            <a:r>
              <a:t>Prince Pratap Shah | +91 7795242424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India's road network: 6.4 million km</a:t>
            </a:r>
          </a:p>
          <a:p>
            <a:r>
              <a:t>• Govt allocation: Rs 2.7 lakh crore for highways (FY26)</a:t>
            </a:r>
          </a:p>
          <a:p>
            <a:r>
              <a:t>• Bitumen demand growing at 8-10% CAGR</a:t>
            </a:r>
          </a:p>
          <a:p>
            <a:r>
              <a:t>• Green mandate from NHAI for sustainable materials</a:t>
            </a:r>
          </a:p>
          <a:p>
            <a:r>
              <a:t>• Bio-Bitumen: 15-30% cheaper than conventional VG30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Project Cost: Rs 10.00 Crore</a:t>
            </a:r>
          </a:p>
          <a:p>
            <a:r>
              <a:t>• Equity Required: Rs 5.00 Crore</a:t>
            </a:r>
          </a:p>
          <a:p>
            <a:r>
              <a:t>• Bank Loan: Rs 5.00 Crore</a:t>
            </a:r>
          </a:p>
          <a:p>
            <a:r>
              <a:t>• Annual Revenue (Yr5): Rs 1026 Lakhs</a:t>
            </a:r>
          </a:p>
          <a:p>
            <a:r>
              <a:t>• ROI: 20.6% | IRR: 26.1%</a:t>
            </a:r>
          </a:p>
          <a:p>
            <a:r>
              <a:t>• Break-Even: 54 months</a:t>
            </a:r>
          </a:p>
          <a:p>
            <a:r>
              <a:t>• DSCR: 2.14x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Technology: Biomass Pyrolysis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Agro-waste (rice straw, bagasse) → Pyrolysis at 400-600°C</a:t>
            </a:r>
          </a:p>
          <a:p>
            <a:r>
              <a:t>• Bio-Oil (40% yield) → Blended with bitumen</a:t>
            </a:r>
          </a:p>
          <a:p>
            <a:r>
              <a:t>• Biochar (30%) → Soil amendment / Carbon black</a:t>
            </a:r>
          </a:p>
          <a:p>
            <a:r>
              <a:t>• Syngas (25%) → Captive fuel (saves Rs 50+ Lakh/year)</a:t>
            </a:r>
          </a:p>
          <a:p>
            <a:r>
              <a:t>• CSIR-CRRI validated technology</a:t>
            </a:r>
          </a:p>
          <a:p>
            <a:r>
              <a:t>• BIS &amp; MoRTH 2026 compliant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Plant: 25 MT/Day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Staff: 26 persons</a:t>
            </a:r>
          </a:p>
          <a:p>
            <a:r>
              <a:t>• Power: 110 kW</a:t>
            </a:r>
          </a:p>
          <a:p>
            <a:r>
              <a:t>• Oil Output: 10000 Litres/day</a:t>
            </a:r>
          </a:p>
          <a:p>
            <a:r>
              <a:t>• Char Output: 7500 Kg/day</a:t>
            </a:r>
          </a:p>
          <a:p>
            <a:r>
              <a:t>• Land: 13,000 sq ft</a:t>
            </a:r>
          </a:p>
          <a:p>
            <a:r>
              <a:t>• Location: mundra, Gujarat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7-Year 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| Revenue | EBITDA | PAT | DSCR</a:t>
            </a:r>
          </a:p>
          <a:p>
            <a:r>
              <a:t>Yr1 | Rs 483L | Rs 184L | Rs 11L | 0.99x</a:t>
            </a:r>
          </a:p>
          <a:p>
            <a:r>
              <a:t>Yr2 | Rs 664L | Rs 271L | Rs 76L | 1.56x</a:t>
            </a:r>
          </a:p>
          <a:p>
            <a:r>
              <a:t>Yr3 | Rs 845L | Rs 358L | Rs 141L | 2.14x</a:t>
            </a:r>
          </a:p>
          <a:p>
            <a:r>
              <a:t>Yr4 | Rs 966L | Rs 416L | Rs 184L | 2.53x</a:t>
            </a:r>
          </a:p>
          <a:p>
            <a:r>
              <a:t>Yr5 | Rs 1026L | Rs 444L | Rs 206L | 2.72x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 3-5: Promoter buyback at 2x equity</a:t>
            </a:r>
          </a:p>
          <a:p>
            <a:r>
              <a:t>• Year 5-7: Strategic sale to infrastructure company</a:t>
            </a:r>
          </a:p>
          <a:p>
            <a:r>
              <a:t>• IPO route: After 3+ years of profitable operations</a:t>
            </a:r>
          </a:p>
          <a:p>
            <a:r>
              <a:t>• Expected equity IRR: 26.1%</a:t>
            </a:r>
          </a:p>
          <a:p>
            <a:r>
              <a:t>• Payback period: 54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PPS Anantams Corporation Private Limited</a:t>
            </a:r>
          </a:p>
          <a:p>
            <a:r>
              <a:t>Prince Pratap Shah</a:t>
            </a:r>
          </a:p>
          <a:p>
            <a:r>
              <a:t>Phone: +91 7795242424</a:t>
            </a:r>
          </a:p>
          <a:p>
            <a:r>
              <a:t>Email: princepshah@gmail.com</a:t>
            </a:r>
          </a:p>
          <a:p>
            <a:r>
              <a:t>Location: Vadodara, Gujarat</a:t>
            </a:r>
          </a:p>
          <a:p>
            <a:r>
              <a:t>GST: 24AAHCV1611L2ZD</a:t>
            </a:r>
          </a:p>
          <a:p/>
          <a:p>
            <a:r>
              <a:t>CONFIDENTIAL — For Private Circulation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