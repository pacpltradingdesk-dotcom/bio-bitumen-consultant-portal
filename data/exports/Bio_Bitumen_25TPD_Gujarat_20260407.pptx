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Bio-Bitumen Plant Project — 25 TPD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for: Rajesh</a:t>
            </a:r>
          </a:p>
          <a:p/>
          <a:p>
            <a:r>
              <a:t>By: PPS Anantams</a:t>
            </a:r>
          </a:p>
          <a:p>
            <a:r>
              <a:t>Date: 07 April 2026</a:t>
            </a:r>
          </a:p>
          <a:p>
            <a:r>
              <a:t>Location: Ahmedabad, Gujarat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Technology: Biomass Pyrolysis (CSIR-CRRI Licensed)</a:t>
            </a:r>
          </a:p>
          <a:p>
            <a:r>
              <a:t>Capacity: 25 TPD agro-waste feed</a:t>
            </a:r>
          </a:p>
          <a:p>
            <a:r>
              <a:t>Investment: Rs 10.00 Crore</a:t>
            </a:r>
          </a:p>
          <a:p>
            <a:r>
              <a:t>Location: Ahmedabad, Gujarat</a:t>
            </a:r>
          </a:p>
          <a:p>
            <a:r>
              <a:t>Products: Bio-Bitumen VG30/VG40, Bio-Char, Bio-Oil, Carbon Credits</a:t>
            </a:r>
          </a:p>
          <a:p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 Bitumen Market: Rs 25,000+ Crore/year</a:t>
            </a:r>
          </a:p>
          <a:p>
            <a:r>
              <a:t>Import Dependency: 49%</a:t>
            </a:r>
          </a:p>
          <a:p>
            <a:r>
              <a:t>Plants Needed: 130-216 in next 5-7 years</a:t>
            </a:r>
          </a:p>
          <a:p>
            <a:r>
              <a:t>NHAI Green Mandate: 15% bio-bitumen by 2030</a:t>
            </a:r>
          </a:p>
          <a:p>
            <a:r>
              <a:t>CSIR-CRRI technology transferred to 14 companies (Jan 2026)</a:t>
            </a:r>
          </a:p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— CSIR-CRRI Licensed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Process: Biomass → Pyrolysis (500°C) → Bio-Oil + Char + Syngas</a:t>
            </a:r>
          </a:p>
          <a:p>
            <a:r>
              <a:t>Yields: Bio-Oil 32% | Bio-Char 28% | Syngas 22%</a:t>
            </a:r>
          </a:p>
          <a:p>
            <a:r>
              <a:t>Blend: 20% bio-oil in VG30 bitumen</a:t>
            </a:r>
          </a:p>
          <a:p>
            <a:r>
              <a:t>Quality: Meets IS:73 VG30/VG40 specifications</a:t>
            </a:r>
          </a:p>
          <a:p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13-Step Manufacturing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Biomass Receiving → 2. Shredding → 3. Drying</a:t>
            </a:r>
          </a:p>
          <a:p>
            <a:r>
              <a:t>4. Pelletization → 5. Pyrolysis (450-550°C)</a:t>
            </a:r>
          </a:p>
          <a:p>
            <a:r>
              <a:t>6. Bio-Oil Condensation → 7. Oil Storage</a:t>
            </a:r>
          </a:p>
          <a:p>
            <a:r>
              <a:t>8. VG-30 Heating → 9. High Shear Blending</a:t>
            </a:r>
          </a:p>
          <a:p>
            <a:r>
              <a:t>10. Quality Testing (IS:73) → 11. Product Storage</a:t>
            </a:r>
          </a:p>
          <a:p>
            <a:r>
              <a:t>12. Drum/Tanker Packing → 13. Dispatch to NHAI/PWD</a:t>
            </a:r>
          </a:p>
          <a:p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Equipment — 15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Reactor: 1x Ø1.5m × 4.5m</a:t>
            </a:r>
          </a:p>
          <a:p>
            <a:r>
              <a:t>Dryer: Ø1.4m × 7.0m</a:t>
            </a:r>
          </a:p>
          <a:p>
            <a:r>
              <a:t>Total Motor Load: 347.0 kW</a:t>
            </a:r>
          </a:p>
          <a:p/>
          <a:p>
            <a:r>
              <a:t>SC-101: Weighbridge + Receiving Hopper — Weighbridge 18m×3.5m | Hopper 21m³</a:t>
            </a:r>
          </a:p>
          <a:p>
            <a:r>
              <a:t>SZ-101: Primary Shredder / Chipper — 2800mm×1800mm×2200mm | Output: 50mm size</a:t>
            </a:r>
          </a:p>
          <a:p>
            <a:r>
              <a:t>DR-101: Rotary Drum Dryer — Drum: Ø1.4m × 7.0m | 150°C | 3.5 RPM</a:t>
            </a:r>
          </a:p>
          <a:p>
            <a:r>
              <a:t>GR-101: Secondary Grinder / Fine Hammer Mill — 2200mm×1400mm×1800mm | Input: 50mm → Output: 3mm |</a:t>
            </a:r>
          </a:p>
          <a:p>
            <a:r>
              <a:t>PR-101: Pyrolysis Reactor (Rotary Kiln) — Ø1.5m × 4.5m | Wall: 12mm SS310S | Insulation: 100</a:t>
            </a:r>
          </a:p>
          <a:p>
            <a:r>
              <a:t>CD-101: Shell &amp; Tube Condenser — 4.5m × Ø0.8m | Cooling water: 12 m³/hr | Bio-oil o</a:t>
            </a:r>
          </a:p>
          <a:p>
            <a:r>
              <a:t>BT-101: Bio-Oil Storage Tank (Atmospheric) — Ø3.3m × 2.6m | 28.8 m³ each | Shell 6mm, Roof 5mm</a:t>
            </a:r>
          </a:p>
          <a:p>
            <a:r>
              <a:t>BIT-101: Conventional Bitumen Tank (Heated) — Heated to 160°C | Insulation 100mm + Al cladding |</a:t>
            </a:r>
          </a:p>
          <a:p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Bill of Quantities — 82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BOQ: Rs 681 Lac (6.81 Cr)</a:t>
            </a:r>
          </a:p>
          <a:p>
            <a:r>
              <a:t>Zones: 15</a:t>
            </a:r>
          </a:p>
          <a:p/>
          <a:p>
            <a:r>
              <a:t>A. Gate &amp; Security: Rs 16 Lac</a:t>
            </a:r>
          </a:p>
          <a:p>
            <a:r>
              <a:t>B. RM Receiving: Rs 27 Lac</a:t>
            </a:r>
          </a:p>
          <a:p>
            <a:r>
              <a:t>C. Pre-Processing: Rs 43 Lac</a:t>
            </a:r>
          </a:p>
          <a:p>
            <a:r>
              <a:t>D. Reactor Zone: Rs 195 Lac</a:t>
            </a:r>
          </a:p>
          <a:p>
            <a:r>
              <a:t>E. Oil Recovery: Rs 22 Lac</a:t>
            </a:r>
          </a:p>
          <a:p>
            <a:r>
              <a:t>F. Blending: Rs 46 Lac</a:t>
            </a:r>
          </a:p>
          <a:p>
            <a:r>
              <a:t>G. Storage: Rs 45 Lac</a:t>
            </a:r>
          </a:p>
          <a:p>
            <a:r>
              <a:t>H. Packing &amp; Dispatch: Rs 27 Lac</a:t>
            </a:r>
          </a:p>
          <a:p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 Layout — 120m × 80m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15 Zones: Gate → RM → Processing → Reactor → Oil → Blending → Storage → Dispatch → Electrical → Utilities → Lab → Safety → Civil → Office → Maintenance</a:t>
            </a:r>
          </a:p>
          <a:p/>
          <a:p>
            <a:r>
              <a:t>Safety: 15m reactor clearance, 6m roads, 45m hydrant spacing</a:t>
            </a:r>
          </a:p>
          <a:p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Investment: Rs 10.00 Crore</a:t>
            </a:r>
          </a:p>
          <a:p>
            <a:r>
              <a:t>Bank Loan (60%): Rs 6.00 Crore</a:t>
            </a:r>
          </a:p>
          <a:p>
            <a:r>
              <a:t>Promoter Equity (40%): Rs 4.00 Crore</a:t>
            </a:r>
          </a:p>
          <a:p>
            <a:r>
              <a:t>EMI: Rs 7.30 Lac/month</a:t>
            </a:r>
          </a:p>
          <a:p>
            <a:r>
              <a:t>Interest Rate: 11.5% p.a.</a:t>
            </a:r>
          </a:p>
          <a:p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&amp; Profitability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Year 5: Rs 815 Lac</a:t>
            </a:r>
          </a:p>
          <a:p>
            <a:r>
              <a:t>Monthly Profit: Rs 5.0 Lac</a:t>
            </a:r>
          </a:p>
          <a:p>
            <a:r>
              <a:t>ROI: 20.0%</a:t>
            </a:r>
          </a:p>
          <a:p>
            <a:r>
              <a:t>IRR: 26.0%</a:t>
            </a:r>
          </a:p>
          <a:p>
            <a:r>
              <a:t>Break-Even: 30 months</a:t>
            </a:r>
          </a:p>
          <a:p>
            <a:r>
              <a:t>DSCR Year 3: 1.50x</a:t>
            </a:r>
          </a:p>
          <a:p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&amp; Licenses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Approvals Required:</a:t>
            </a:r>
          </a:p>
          <a:p>
            <a:r>
              <a:t>- CTE (Consent to Establish) — State PCB</a:t>
            </a:r>
          </a:p>
          <a:p>
            <a:r>
              <a:t>- CTO (Consent to Operate) — State PCB</a:t>
            </a:r>
          </a:p>
          <a:p>
            <a:r>
              <a:t>- Factory License — Factory Inspector</a:t>
            </a:r>
          </a:p>
          <a:p>
            <a:r>
              <a:t>- Fire NOC — Fire Department</a:t>
            </a:r>
          </a:p>
          <a:p>
            <a:r>
              <a:t>- PESO License — for petroleum storage</a:t>
            </a:r>
          </a:p>
          <a:p>
            <a:r>
              <a:t>- GST Registration</a:t>
            </a:r>
          </a:p>
          <a:p>
            <a:r>
              <a:t>- MSME Registration</a:t>
            </a:r>
          </a:p>
          <a:p>
            <a:r>
              <a:t>Total: 25 licenses — We handle ALL</a:t>
            </a:r>
          </a:p>
          <a:p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Government Schemes &amp; Subsidies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MNRE Biomass: 25% capital subsidy (max Rs 2.1 Cr)</a:t>
            </a:r>
          </a:p>
          <a:p>
            <a:r>
              <a:t>State MSME: Varies by state</a:t>
            </a:r>
          </a:p>
          <a:p>
            <a:r>
              <a:t>CGTMSE: Collateral-free up to Rs 5 Cr</a:t>
            </a:r>
          </a:p>
          <a:p>
            <a:r>
              <a:t>Carbon Credits: Rs 328.1 Lac/year</a:t>
            </a:r>
          </a:p>
          <a:p>
            <a:r>
              <a:t>NHAI Green Mandate: Priority procurement</a:t>
            </a:r>
          </a:p>
          <a:p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 — 12 to 18 Months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 1: DPR + Feasibility</a:t>
            </a:r>
          </a:p>
          <a:p>
            <a:r>
              <a:t>Month 1-2: Company Setup</a:t>
            </a:r>
          </a:p>
          <a:p>
            <a:r>
              <a:t>Month 2-4: Land + Approvals</a:t>
            </a:r>
          </a:p>
          <a:p>
            <a:r>
              <a:t>Month 3-7: Environmental Clearances</a:t>
            </a:r>
          </a:p>
          <a:p>
            <a:r>
              <a:t>Month 3-5: Bank Loan</a:t>
            </a:r>
          </a:p>
          <a:p>
            <a:r>
              <a:t>Month 5-8: Equipment Order</a:t>
            </a:r>
          </a:p>
          <a:p>
            <a:r>
              <a:t>Month 6-10: Civil Construction</a:t>
            </a:r>
          </a:p>
          <a:p>
            <a:r>
              <a:t>Month 10-12: Installation</a:t>
            </a:r>
          </a:p>
          <a:p>
            <a:r>
              <a:t>Month 13+: Commercial Production</a:t>
            </a:r>
          </a:p>
          <a:p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PPS Anantams?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Experience: 25 years in bitumen industry</a:t>
            </a:r>
          </a:p>
          <a:p>
            <a:r>
              <a:t>Plants Built: 10 across India</a:t>
            </a:r>
          </a:p>
          <a:p>
            <a:r>
              <a:t>Network: 4,452 industry contacts</a:t>
            </a:r>
          </a:p>
          <a:p>
            <a:r>
              <a:t>International: VG-30 supply 2.4 Lakh MT/yr</a:t>
            </a:r>
          </a:p>
          <a:p>
            <a:r>
              <a:t>Turnkey: DPR to Dispatch — complete solution</a:t>
            </a:r>
          </a:p>
          <a:p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Finalize capacity and location</a:t>
            </a:r>
          </a:p>
          <a:p>
            <a:r>
              <a:t>2. Sign consulting agreement</a:t>
            </a:r>
          </a:p>
          <a:p>
            <a:r>
              <a:t>3. DPR generation (7 days)</a:t>
            </a:r>
          </a:p>
          <a:p>
            <a:r>
              <a:t>4. Bank loan application</a:t>
            </a:r>
          </a:p>
          <a:p>
            <a:r>
              <a:t>5. Site identification</a:t>
            </a:r>
          </a:p>
          <a:p>
            <a:r>
              <a:t>6. Equipment procurement</a:t>
            </a:r>
          </a:p>
          <a:p>
            <a:r>
              <a:t>7. Construction &amp; commissioning</a:t>
            </a:r>
          </a:p>
          <a:p/>
          <a:p>
            <a:r>
              <a:t>Contact: Prince Pratap Shah | +91 7795242424</a:t>
            </a:r>
          </a:p>
          <a:p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